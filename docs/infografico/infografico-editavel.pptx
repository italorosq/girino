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600000" cy="54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0478" y="30474"/>
            <a:ext cx="3367857" cy="5339052"/>
          </a:xfrm>
          <a:prstGeom prst="roundRect">
            <a:avLst>
              <a:gd name="adj" fmla="val 1809"/>
            </a:avLst>
          </a:prstGeom>
          <a:solidFill>
            <a:srgbClr val="0B2C57"/>
          </a:solidFill>
          <a:ln w="9144">
            <a:solidFill>
              <a:srgbClr val="1A48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r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61" y="3757449"/>
            <a:ext cx="3178891" cy="579007"/>
          </a:xfrm>
          <a:prstGeom prst="rect">
            <a:avLst/>
          </a:prstGeom>
        </p:spPr>
      </p:pic>
      <p:pic>
        <p:nvPicPr>
          <p:cNvPr id="4" name="Picture 3" descr="masco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267" y="173702"/>
            <a:ext cx="816820" cy="6094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8109" y="210271"/>
            <a:ext cx="3032595" cy="13408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F2A100"/>
                </a:solidFill>
                <a:latin typeface="Source Sans 3"/>
              </a:rPr>
              <a:t>EIC · CETREINA/UERJ · LaRA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09" y="380926"/>
            <a:ext cx="402314" cy="15237"/>
          </a:xfrm>
          <a:prstGeom prst="roundRect">
            <a:avLst>
              <a:gd name="adj" fmla="val 50000"/>
            </a:avLst>
          </a:prstGeom>
          <a:solidFill>
            <a:srgbClr val="F2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8109" y="493679"/>
            <a:ext cx="3032595" cy="17979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920" b="1" i="0">
                <a:solidFill>
                  <a:srgbClr val="FFFFFF"/>
                </a:solidFill>
                <a:latin typeface="Source Sans 3"/>
              </a:rPr>
              <a:t>Modernização de Plataformas Robóticas e Desenvolvimento de Infraestrutura para Experimentação em Algoritmos de Robótica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109" y="2328217"/>
            <a:ext cx="3032595" cy="6704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4000"/>
              </a:lnSpc>
            </a:pPr>
            <a:r>
              <a:rPr sz="1200" b="0" i="0">
                <a:solidFill>
                  <a:srgbClr val="CED5DD"/>
                </a:solidFill>
                <a:latin typeface="Source Sans 3"/>
              </a:rPr>
              <a:t>Modernizar e manter o que a instituição já tem: o Girino como primeiro produto e o caminho documentado para quem vier depois.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98109" y="3123589"/>
            <a:ext cx="3032595" cy="6095"/>
          </a:xfrm>
          <a:prstGeom prst="rect">
            <a:avLst/>
          </a:prstGeom>
          <a:solidFill>
            <a:srgbClr val="324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98109" y="3266817"/>
            <a:ext cx="3032595" cy="218804"/>
          </a:xfrm>
          <a:prstGeom prst="roundRect">
            <a:avLst>
              <a:gd name="adj" fmla="val 11142"/>
            </a:avLst>
          </a:prstGeom>
          <a:solidFill>
            <a:srgbClr val="234168"/>
          </a:solidFill>
          <a:ln w="4572">
            <a:solidFill>
              <a:srgbClr val="546B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1" rIns="0" tIns="0" bIns="0">
            <a:noAutofit/>
          </a:bodyPr>
          <a:lstStyle/>
          <a:p>
            <a:pPr algn="ctr"/>
            <a:r>
              <a:rPr sz="960" b="1">
                <a:solidFill>
                  <a:srgbClr val="E2E6EB"/>
                </a:solidFill>
                <a:latin typeface="Source Sans 3"/>
              </a:rPr>
              <a:t>Modernizar o que existe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8109" y="3519142"/>
            <a:ext cx="3032595" cy="218804"/>
          </a:xfrm>
          <a:prstGeom prst="roundRect">
            <a:avLst>
              <a:gd name="adj" fmla="val 11142"/>
            </a:avLst>
          </a:prstGeom>
          <a:solidFill>
            <a:srgbClr val="234168"/>
          </a:solidFill>
          <a:ln w="4572">
            <a:solidFill>
              <a:srgbClr val="546B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1" rIns="0" tIns="0" bIns="0">
            <a:noAutofit/>
          </a:bodyPr>
          <a:lstStyle/>
          <a:p>
            <a:pPr algn="ctr"/>
            <a:r>
              <a:rPr sz="960" b="1">
                <a:solidFill>
                  <a:srgbClr val="E2E6EB"/>
                </a:solidFill>
                <a:latin typeface="Source Sans 3"/>
              </a:rPr>
              <a:t>Girino: primeiro produto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8109" y="3771467"/>
            <a:ext cx="3032595" cy="218804"/>
          </a:xfrm>
          <a:prstGeom prst="roundRect">
            <a:avLst>
              <a:gd name="adj" fmla="val 11142"/>
            </a:avLst>
          </a:prstGeom>
          <a:solidFill>
            <a:srgbClr val="234168"/>
          </a:solidFill>
          <a:ln w="4572">
            <a:solidFill>
              <a:srgbClr val="546B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1" rIns="0" tIns="0" bIns="0">
            <a:noAutofit/>
          </a:bodyPr>
          <a:lstStyle/>
          <a:p>
            <a:pPr algn="ctr"/>
            <a:r>
              <a:rPr sz="960" b="1">
                <a:solidFill>
                  <a:srgbClr val="E2E6EB"/>
                </a:solidFill>
                <a:latin typeface="Source Sans 3"/>
              </a:rPr>
              <a:t>Plataforma aberta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8109" y="4023792"/>
            <a:ext cx="3032595" cy="218804"/>
          </a:xfrm>
          <a:prstGeom prst="roundRect">
            <a:avLst>
              <a:gd name="adj" fmla="val 11142"/>
            </a:avLst>
          </a:prstGeom>
          <a:solidFill>
            <a:srgbClr val="234168"/>
          </a:solidFill>
          <a:ln w="4572">
            <a:solidFill>
              <a:srgbClr val="546B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1" rIns="0" tIns="0" bIns="0">
            <a:noAutofit/>
          </a:bodyPr>
          <a:lstStyle/>
          <a:p>
            <a:pPr algn="ctr"/>
            <a:r>
              <a:rPr sz="960" b="1">
                <a:solidFill>
                  <a:srgbClr val="E2E6EB"/>
                </a:solidFill>
                <a:latin typeface="Source Sans 3"/>
              </a:rPr>
              <a:t>Formação do bolsista</a:t>
            </a:r>
          </a:p>
        </p:txBody>
      </p:sp>
      <p:pic>
        <p:nvPicPr>
          <p:cNvPr id="14" name="Picture 13" descr="qr-rep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09" y="4321219"/>
            <a:ext cx="874728" cy="87460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64273" y="4321219"/>
            <a:ext cx="2066431" cy="87460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960" b="1" i="0">
                <a:solidFill>
                  <a:srgbClr val="EBEEF2"/>
                </a:solidFill>
                <a:latin typeface="Source Sans 3"/>
              </a:rPr>
              <a:t>Código aberto</a:t>
            </a:r>
          </a:p>
          <a:p>
            <a:pPr algn="l">
              <a:lnSpc>
                <a:spcPct val="130000"/>
              </a:lnSpc>
            </a:pPr>
            <a:r>
              <a:rPr sz="960" b="0" i="0">
                <a:solidFill>
                  <a:srgbClr val="BBC4D0"/>
                </a:solidFill>
                <a:latin typeface="Source Sans 3"/>
              </a:rPr>
              <a:t>github.com/italorosq/Girino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2718" y="30474"/>
            <a:ext cx="2752194" cy="5339052"/>
          </a:xfrm>
          <a:prstGeom prst="roundRect">
            <a:avLst>
              <a:gd name="adj" fmla="val 2214"/>
            </a:avLst>
          </a:prstGeom>
          <a:solidFill>
            <a:srgbClr val="FFFFFF"/>
          </a:solidFill>
          <a:ln w="9144">
            <a:solidFill>
              <a:srgbClr val="D9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31861" y="39616"/>
            <a:ext cx="2733907" cy="353499"/>
          </a:xfrm>
          <a:prstGeom prst="rect">
            <a:avLst/>
          </a:prstGeom>
          <a:solidFill>
            <a:srgbClr val="FB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392" y="121896"/>
            <a:ext cx="42670" cy="210271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0827" y="121896"/>
            <a:ext cx="2447411" cy="2102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40" b="1" i="0">
                <a:solidFill>
                  <a:srgbClr val="0B2C57"/>
                </a:solidFill>
                <a:latin typeface="Source Sans 3"/>
              </a:rPr>
              <a:t>Problema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9392" y="393115"/>
            <a:ext cx="2538846" cy="6095"/>
          </a:xfrm>
          <a:prstGeom prst="rect">
            <a:avLst/>
          </a:prstGeom>
          <a:solidFill>
            <a:srgbClr val="E9B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badg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9392" y="542438"/>
            <a:ext cx="292592" cy="29255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882941" y="542438"/>
            <a:ext cx="2185297" cy="365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060" b="1" i="0">
                <a:solidFill>
                  <a:srgbClr val="C0392B"/>
                </a:solidFill>
                <a:latin typeface="Source Sans 3"/>
              </a:rPr>
              <a:t>Equipamento preservado e fora de uso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2941" y="880700"/>
            <a:ext cx="2185297" cy="8532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6000"/>
              </a:lnSpc>
            </a:pPr>
            <a:r>
              <a:rPr sz="1080" b="0" i="0">
                <a:solidFill>
                  <a:srgbClr val="484858"/>
                </a:solidFill>
                <a:latin typeface="Source Sans 3"/>
              </a:rPr>
              <a:t>A estrutura continua íntegra, mas o sistema de controle envelhece, o suporte do fabricante acaba e as peças saem de linha.</a:t>
            </a:r>
          </a:p>
        </p:txBody>
      </p:sp>
      <p:pic>
        <p:nvPicPr>
          <p:cNvPr id="24" name="Picture 23" descr="badge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9392" y="2014334"/>
            <a:ext cx="292592" cy="29255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882941" y="2014334"/>
            <a:ext cx="2185297" cy="182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060" b="1" i="0">
                <a:solidFill>
                  <a:srgbClr val="C0392B"/>
                </a:solidFill>
                <a:latin typeface="Source Sans 3"/>
              </a:rPr>
              <a:t>Camada de controle fechada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2941" y="2194131"/>
            <a:ext cx="2185297" cy="8532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6000"/>
              </a:lnSpc>
            </a:pPr>
            <a:r>
              <a:rPr sz="1080" b="0" i="0">
                <a:solidFill>
                  <a:srgbClr val="484858"/>
                </a:solidFill>
                <a:latin typeface="Source Sans 3"/>
              </a:rPr>
              <a:t>O que existe não admite modificação, expansão nem integração com as ferramentas atuais.</a:t>
            </a:r>
          </a:p>
        </p:txBody>
      </p:sp>
      <p:pic>
        <p:nvPicPr>
          <p:cNvPr id="27" name="Picture 26" descr="badge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9392" y="3141874"/>
            <a:ext cx="292592" cy="292551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882941" y="3141874"/>
            <a:ext cx="2185297" cy="182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060" b="1" i="0">
                <a:solidFill>
                  <a:srgbClr val="C0392B"/>
                </a:solidFill>
                <a:latin typeface="Source Sans 3"/>
              </a:rPr>
              <a:t>Tentativas anteriores abandonadas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2941" y="3321670"/>
            <a:ext cx="2185297" cy="8532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6000"/>
              </a:lnSpc>
            </a:pPr>
            <a:r>
              <a:rPr sz="1080" b="0" i="0">
                <a:solidFill>
                  <a:srgbClr val="484858"/>
                </a:solidFill>
                <a:latin typeface="Source Sans 3"/>
              </a:rPr>
              <a:t>A curva de aprendizado inicial não se sustentou e o equipamento voltou para a prateleira.</a:t>
            </a:r>
          </a:p>
        </p:txBody>
      </p:sp>
      <p:pic>
        <p:nvPicPr>
          <p:cNvPr id="30" name="Picture 29" descr="badge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9392" y="4269413"/>
            <a:ext cx="292592" cy="29255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882941" y="4269413"/>
            <a:ext cx="2185297" cy="182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060" b="1" i="0">
                <a:solidFill>
                  <a:srgbClr val="C0392B"/>
                </a:solidFill>
                <a:latin typeface="Source Sans 3"/>
              </a:rPr>
              <a:t>Formação sem prática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2941" y="4449210"/>
            <a:ext cx="2185297" cy="8532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6000"/>
              </a:lnSpc>
            </a:pPr>
            <a:r>
              <a:rPr sz="1080" b="0" i="0">
                <a:solidFill>
                  <a:srgbClr val="484858"/>
                </a:solidFill>
                <a:latin typeface="Source Sans 3"/>
              </a:rPr>
              <a:t>Controle, cinemática e processamento de sinais estudados sem contato com hardware real, ruído e limitações.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9294" y="30474"/>
            <a:ext cx="3361761" cy="5339052"/>
          </a:xfrm>
          <a:prstGeom prst="roundRect">
            <a:avLst>
              <a:gd name="adj" fmla="val 1813"/>
            </a:avLst>
          </a:prstGeom>
          <a:solidFill>
            <a:srgbClr val="FFFFFF"/>
          </a:solidFill>
          <a:ln w="9144">
            <a:solidFill>
              <a:srgbClr val="D9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08438" y="39616"/>
            <a:ext cx="3343474" cy="353499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05969" y="121896"/>
            <a:ext cx="42670" cy="210271"/>
          </a:xfrm>
          <a:prstGeom prst="roundRect">
            <a:avLst>
              <a:gd name="adj" fmla="val 50000"/>
            </a:avLst>
          </a:prstGeom>
          <a:solidFill>
            <a:srgbClr val="16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97404" y="121896"/>
            <a:ext cx="3056978" cy="2102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40" b="1" i="0">
                <a:solidFill>
                  <a:srgbClr val="0B2C57"/>
                </a:solidFill>
                <a:latin typeface="Source Sans 3"/>
              </a:rPr>
              <a:t>Tese e Objetivo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5969" y="393115"/>
            <a:ext cx="3056978" cy="6095"/>
          </a:xfrm>
          <a:prstGeom prst="rect">
            <a:avLst/>
          </a:prstGeom>
          <a:solidFill>
            <a:srgbClr val="ADC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305969" y="435779"/>
            <a:ext cx="3148413" cy="457111"/>
          </a:xfrm>
          <a:prstGeom prst="roundRect">
            <a:avLst>
              <a:gd name="adj" fmla="val 6666"/>
            </a:avLst>
          </a:prstGeom>
          <a:solidFill>
            <a:srgbClr val="EF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05969" y="435779"/>
            <a:ext cx="21335" cy="457111"/>
          </a:xfrm>
          <a:prstGeom prst="rect">
            <a:avLst/>
          </a:prstGeom>
          <a:solidFill>
            <a:srgbClr val="16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73021" y="484537"/>
            <a:ext cx="3014308" cy="3595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080" b="1" i="0">
                <a:solidFill>
                  <a:srgbClr val="1660A8"/>
                </a:solidFill>
                <a:latin typeface="Source Sans 3"/>
              </a:rPr>
              <a:t>Manter o equipamento em uso vale tanto quanto adquiri-lo.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05969" y="1679120"/>
            <a:ext cx="3148413" cy="457111"/>
          </a:xfrm>
          <a:prstGeom prst="roundRect">
            <a:avLst>
              <a:gd name="adj" fmla="val 6666"/>
            </a:avLst>
          </a:prstGeom>
          <a:solidFill>
            <a:srgbClr val="EF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05969" y="1679120"/>
            <a:ext cx="21335" cy="457111"/>
          </a:xfrm>
          <a:prstGeom prst="rect">
            <a:avLst/>
          </a:prstGeom>
          <a:solidFill>
            <a:srgbClr val="16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73021" y="1727878"/>
            <a:ext cx="3014308" cy="3595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080" b="1" i="0">
                <a:solidFill>
                  <a:srgbClr val="1660A8"/>
                </a:solidFill>
                <a:latin typeface="Source Sans 3"/>
              </a:rPr>
              <a:t>Baixar a barreira de entrada é o que devolve o equipamento ao uso.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87682" y="1801016"/>
            <a:ext cx="1402004" cy="1310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800" b="1" i="0">
                <a:solidFill>
                  <a:srgbClr val="F1F5FA"/>
                </a:solidFill>
                <a:latin typeface="Source Sans 3"/>
              </a:rPr>
              <a:t>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5969" y="2980361"/>
            <a:ext cx="3148413" cy="1523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0B2C57"/>
                </a:solidFill>
                <a:latin typeface="Source Sans 3"/>
              </a:rPr>
              <a:t>OBJETIVO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5969" y="3132731"/>
            <a:ext cx="3148413" cy="6095"/>
          </a:xfrm>
          <a:prstGeom prst="rect">
            <a:avLst/>
          </a:prstGeom>
          <a:solidFill>
            <a:srgbClr val="D9E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5969" y="3163205"/>
            <a:ext cx="3148413" cy="1310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</a:pPr>
            <a:r>
              <a:rPr sz="1150" b="0" i="0">
                <a:solidFill>
                  <a:srgbClr val="2A2A3A"/>
                </a:solidFill>
                <a:latin typeface="Source Sans 3"/>
              </a:rPr>
              <a:t>Modernizar e manter as plataformas do laboratório, com controladores abertos de baixo custo, e transformar o processo em formação técnica para o bolsista e em recurso aberto para a comunidade acadêmica. </a:t>
            </a:r>
          </a:p>
          <a:p>
            <a:pPr algn="l">
              <a:lnSpc>
                <a:spcPct val="142000"/>
              </a:lnSpc>
            </a:pPr>
            <a:r>
              <a:rPr sz="1150" b="1" i="0">
                <a:solidFill>
                  <a:srgbClr val="0B2C57"/>
                </a:solidFill>
                <a:latin typeface="Source Sans 3"/>
              </a:rPr>
              <a:t>O Girino é o primeiro produto.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08438" y="4952032"/>
            <a:ext cx="3343474" cy="408352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08438" y="4952032"/>
            <a:ext cx="3343474" cy="6095"/>
          </a:xfrm>
          <a:prstGeom prst="rect">
            <a:avLst/>
          </a:prstGeom>
          <a:solidFill>
            <a:srgbClr val="D9E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5969" y="4994695"/>
            <a:ext cx="3148413" cy="323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960" b="0" i="1">
                <a:solidFill>
                  <a:srgbClr val="666666"/>
                </a:solidFill>
                <a:latin typeface="Source Sans 3"/>
              </a:rPr>
              <a:t>Bolsista recém-iniciado e sem verba de material: o que já roda usa os componentes que o laboratório tem em estoque.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585438" y="30474"/>
            <a:ext cx="4742430" cy="5339052"/>
          </a:xfrm>
          <a:prstGeom prst="roundRect">
            <a:avLst>
              <a:gd name="adj" fmla="val 1285"/>
            </a:avLst>
          </a:prstGeom>
          <a:solidFill>
            <a:srgbClr val="FFFFFF"/>
          </a:solidFill>
          <a:ln w="9144">
            <a:solidFill>
              <a:srgbClr val="D9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594582" y="39616"/>
            <a:ext cx="4724143" cy="353499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692112" y="121896"/>
            <a:ext cx="42670" cy="210271"/>
          </a:xfrm>
          <a:prstGeom prst="roundRect">
            <a:avLst>
              <a:gd name="adj" fmla="val 50000"/>
            </a:avLst>
          </a:prstGeom>
          <a:solidFill>
            <a:srgbClr val="16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83547" y="121896"/>
            <a:ext cx="4437646" cy="2102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40" b="1" i="0">
                <a:solidFill>
                  <a:srgbClr val="0B2C57"/>
                </a:solidFill>
                <a:latin typeface="Source Sans 3"/>
              </a:rPr>
              <a:t>Método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92112" y="393115"/>
            <a:ext cx="4529081" cy="6095"/>
          </a:xfrm>
          <a:prstGeom prst="rect">
            <a:avLst/>
          </a:prstGeom>
          <a:solidFill>
            <a:srgbClr val="ADC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692112" y="435779"/>
            <a:ext cx="2243206" cy="2169752"/>
          </a:xfrm>
          <a:prstGeom prst="roundRect">
            <a:avLst>
              <a:gd name="adj" fmla="val 1966"/>
            </a:avLst>
          </a:prstGeom>
          <a:solidFill>
            <a:srgbClr val="F4F7FB"/>
          </a:solidFill>
          <a:ln w="6096">
            <a:solidFill>
              <a:srgbClr val="D9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9765260" y="511964"/>
            <a:ext cx="219444" cy="219413"/>
          </a:xfrm>
          <a:prstGeom prst="ellipse">
            <a:avLst/>
          </a:prstGeom>
          <a:solidFill>
            <a:srgbClr val="16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sz="1060" b="1">
                <a:solidFill>
                  <a:srgbClr val="FFFFFF"/>
                </a:solidFill>
                <a:latin typeface="Source Sans 3"/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45661" y="502822"/>
            <a:ext cx="1816509" cy="182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60" b="1" i="0">
                <a:solidFill>
                  <a:srgbClr val="0B2C57"/>
                </a:solidFill>
                <a:latin typeface="Source Sans 3"/>
              </a:rPr>
              <a:t>Caracterizar o que existe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45661" y="688713"/>
            <a:ext cx="1816509" cy="91422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6000"/>
              </a:lnSpc>
            </a:pPr>
            <a:r>
              <a:rPr sz="1080" b="0" i="0">
                <a:solidFill>
                  <a:srgbClr val="484858"/>
                </a:solidFill>
                <a:latin typeface="Source Sans 3"/>
              </a:rPr>
              <a:t>Entender a estrutura, medir o que ainda funciona e registrar o que precisa ser trocado.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1977988" y="435779"/>
            <a:ext cx="2243206" cy="2169752"/>
          </a:xfrm>
          <a:prstGeom prst="roundRect">
            <a:avLst>
              <a:gd name="adj" fmla="val 1966"/>
            </a:avLst>
          </a:prstGeom>
          <a:solidFill>
            <a:srgbClr val="F4F7FB"/>
          </a:solidFill>
          <a:ln w="6096">
            <a:solidFill>
              <a:srgbClr val="D9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2051136" y="511964"/>
            <a:ext cx="219444" cy="219413"/>
          </a:xfrm>
          <a:prstGeom prst="ellipse">
            <a:avLst/>
          </a:prstGeom>
          <a:solidFill>
            <a:srgbClr val="16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sz="1060" b="1">
                <a:solidFill>
                  <a:srgbClr val="FFFFFF"/>
                </a:solidFill>
                <a:latin typeface="Source Sans 3"/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331537" y="502822"/>
            <a:ext cx="1816509" cy="182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60" b="1" i="0">
                <a:solidFill>
                  <a:srgbClr val="0B2C57"/>
                </a:solidFill>
                <a:latin typeface="Source Sans 3"/>
              </a:rPr>
              <a:t>Começar pelo Girino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331537" y="688713"/>
            <a:ext cx="1816509" cy="91422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6000"/>
              </a:lnSpc>
            </a:pPr>
            <a:r>
              <a:rPr sz="1080" b="0" i="0">
                <a:solidFill>
                  <a:srgbClr val="484858"/>
                </a:solidFill>
                <a:latin typeface="Source Sans 3"/>
              </a:rPr>
              <a:t>Um motor, um driver e um encoder, com interface no navegador, para validar o caminho em escala pequena.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692112" y="2648194"/>
            <a:ext cx="2243206" cy="2169752"/>
          </a:xfrm>
          <a:prstGeom prst="roundRect">
            <a:avLst>
              <a:gd name="adj" fmla="val 1966"/>
            </a:avLst>
          </a:prstGeom>
          <a:solidFill>
            <a:srgbClr val="F4F7FB"/>
          </a:solidFill>
          <a:ln w="6096">
            <a:solidFill>
              <a:srgbClr val="D9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765260" y="2724379"/>
            <a:ext cx="219444" cy="219413"/>
          </a:xfrm>
          <a:prstGeom prst="ellipse">
            <a:avLst/>
          </a:prstGeom>
          <a:solidFill>
            <a:srgbClr val="16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sz="1060" b="1">
                <a:solidFill>
                  <a:srgbClr val="FFFFFF"/>
                </a:solidFill>
                <a:latin typeface="Source Sans 3"/>
              </a:rPr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45661" y="2715237"/>
            <a:ext cx="1816509" cy="182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60" b="1" i="0">
                <a:solidFill>
                  <a:srgbClr val="0B2C57"/>
                </a:solidFill>
                <a:latin typeface="Source Sans 3"/>
              </a:rPr>
              <a:t>Avançar por etapas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45661" y="2901129"/>
            <a:ext cx="1816509" cy="91422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6000"/>
              </a:lnSpc>
            </a:pPr>
            <a:r>
              <a:rPr sz="1080" b="0" i="0">
                <a:solidFill>
                  <a:srgbClr val="484858"/>
                </a:solidFill>
                <a:latin typeface="Source Sans 3"/>
              </a:rPr>
              <a:t>Cada função nova é validada em bancada antes de entrar no equipamento, e o que dá errado é registrado junto com a solução.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1977988" y="2648194"/>
            <a:ext cx="2243206" cy="2169752"/>
          </a:xfrm>
          <a:prstGeom prst="roundRect">
            <a:avLst>
              <a:gd name="adj" fmla="val 1966"/>
            </a:avLst>
          </a:prstGeom>
          <a:solidFill>
            <a:srgbClr val="F4F7FB"/>
          </a:solidFill>
          <a:ln w="6096">
            <a:solidFill>
              <a:srgbClr val="D9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2051136" y="2724379"/>
            <a:ext cx="219444" cy="219413"/>
          </a:xfrm>
          <a:prstGeom prst="ellipse">
            <a:avLst/>
          </a:prstGeom>
          <a:solidFill>
            <a:srgbClr val="16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sz="1060" b="1">
                <a:solidFill>
                  <a:srgbClr val="FFFFFF"/>
                </a:solidFill>
                <a:latin typeface="Source Sans 3"/>
              </a:rPr>
              <a:t>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331537" y="2715237"/>
            <a:ext cx="1816509" cy="365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60" b="1" i="0">
                <a:solidFill>
                  <a:srgbClr val="0B2C57"/>
                </a:solidFill>
                <a:latin typeface="Source Sans 3"/>
              </a:rPr>
              <a:t>Documentar enquanto acontece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331537" y="3059594"/>
            <a:ext cx="1816509" cy="91422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6000"/>
              </a:lnSpc>
            </a:pPr>
            <a:r>
              <a:rPr sz="1080" b="0" i="0">
                <a:solidFill>
                  <a:srgbClr val="484858"/>
                </a:solidFill>
                <a:latin typeface="Source Sans 3"/>
              </a:rPr>
              <a:t>Esquemas, medições, listas de materiais e código aberto, para que a próxima pessoa não recomece do zero.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692112" y="4860609"/>
            <a:ext cx="2935064" cy="204176"/>
          </a:xfrm>
          <a:prstGeom prst="roundRect">
            <a:avLst>
              <a:gd name="adj" fmla="val 11940"/>
            </a:avLst>
          </a:prstGeom>
          <a:solidFill>
            <a:srgbClr val="E8EFF6"/>
          </a:solidFill>
          <a:ln w="4572">
            <a:solidFill>
              <a:srgbClr val="C2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8765" rIns="0" tIns="0" bIns="0">
            <a:noAutofit/>
          </a:bodyPr>
          <a:lstStyle/>
          <a:p>
            <a:pPr algn="ctr"/>
            <a:r>
              <a:rPr sz="960" b="1">
                <a:solidFill>
                  <a:srgbClr val="1660A8"/>
                </a:solidFill>
                <a:latin typeface="Source Sans 3"/>
              </a:rPr>
              <a:t>Ciclos: bancada → plataforma montada → uso real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692112" y="5095260"/>
            <a:ext cx="3645210" cy="204176"/>
          </a:xfrm>
          <a:prstGeom prst="roundRect">
            <a:avLst>
              <a:gd name="adj" fmla="val 11940"/>
            </a:avLst>
          </a:prstGeom>
          <a:solidFill>
            <a:srgbClr val="E8EFF6"/>
          </a:solidFill>
          <a:ln w="4572">
            <a:solidFill>
              <a:srgbClr val="C2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8765" rIns="0" tIns="0" bIns="0">
            <a:noAutofit/>
          </a:bodyPr>
          <a:lstStyle/>
          <a:p>
            <a:pPr algn="ctr"/>
            <a:r>
              <a:rPr sz="960" b="1">
                <a:solidFill>
                  <a:srgbClr val="1660A8"/>
                </a:solidFill>
                <a:latin typeface="Source Sans 3"/>
              </a:rPr>
              <a:t>Adaptações mecânicas impressas em 3D no próprio laboratório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4352251" y="30474"/>
            <a:ext cx="4129815" cy="5339052"/>
          </a:xfrm>
          <a:prstGeom prst="roundRect">
            <a:avLst>
              <a:gd name="adj" fmla="val 1476"/>
            </a:avLst>
          </a:prstGeom>
          <a:solidFill>
            <a:srgbClr val="FFFFFF"/>
          </a:solidFill>
          <a:ln w="9144">
            <a:solidFill>
              <a:srgbClr val="D9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4361394" y="39616"/>
            <a:ext cx="4111528" cy="353499"/>
          </a:xfrm>
          <a:prstGeom prst="rect">
            <a:avLst/>
          </a:prstGeom>
          <a:solidFill>
            <a:srgbClr val="EE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14458925" y="121896"/>
            <a:ext cx="42670" cy="210271"/>
          </a:xfrm>
          <a:prstGeom prst="roundRect">
            <a:avLst>
              <a:gd name="adj" fmla="val 50000"/>
            </a:avLst>
          </a:prstGeom>
          <a:solidFill>
            <a:srgbClr val="0E9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4550360" y="121896"/>
            <a:ext cx="3837223" cy="2102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40" b="1" i="0">
                <a:solidFill>
                  <a:srgbClr val="0B2C57"/>
                </a:solidFill>
                <a:latin typeface="Source Sans 3"/>
              </a:rPr>
              <a:t>Resultados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4458925" y="393115"/>
            <a:ext cx="3928658" cy="6095"/>
          </a:xfrm>
          <a:prstGeom prst="rect">
            <a:avLst/>
          </a:prstGeom>
          <a:solidFill>
            <a:srgbClr val="9FD5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14446733" y="435779"/>
            <a:ext cx="1952138" cy="1383521"/>
          </a:xfrm>
          <a:prstGeom prst="roundRect">
            <a:avLst>
              <a:gd name="adj" fmla="val 3083"/>
            </a:avLst>
          </a:prstGeom>
          <a:solidFill>
            <a:srgbClr val="EEF8F8"/>
          </a:solidFill>
          <a:ln w="6096">
            <a:solidFill>
              <a:srgbClr val="CF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501594" y="647573"/>
            <a:ext cx="1842416" cy="48758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0E9594"/>
                </a:solidFill>
                <a:latin typeface="Source Sans 3"/>
              </a:rPr>
              <a:t>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501594" y="1132111"/>
            <a:ext cx="1842416" cy="5363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960" b="1" i="0">
                <a:solidFill>
                  <a:srgbClr val="0B2C57"/>
                </a:solidFill>
                <a:latin typeface="Source Sans 3"/>
              </a:rPr>
              <a:t>malhas PID em bancada: velocidade e posição, com auto-sintonia embarcada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5484521" y="1057449"/>
            <a:ext cx="883872" cy="73137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200" b="1" i="0">
                <a:solidFill>
                  <a:srgbClr val="DEF1F0"/>
                </a:solidFill>
                <a:latin typeface="Source Sans 3"/>
              </a:rPr>
              <a:t>2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6435445" y="435779"/>
            <a:ext cx="1952138" cy="1383521"/>
          </a:xfrm>
          <a:prstGeom prst="roundRect">
            <a:avLst>
              <a:gd name="adj" fmla="val 3083"/>
            </a:avLst>
          </a:prstGeom>
          <a:solidFill>
            <a:srgbClr val="EEF8F8"/>
          </a:solidFill>
          <a:ln w="6096">
            <a:solidFill>
              <a:srgbClr val="CF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490306" y="647573"/>
            <a:ext cx="1842416" cy="48758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0E9594"/>
                </a:solidFill>
                <a:latin typeface="Source Sans 3"/>
              </a:rPr>
              <a:t>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6490306" y="1132111"/>
            <a:ext cx="1842416" cy="5363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960" b="1" i="0">
                <a:solidFill>
                  <a:srgbClr val="0B2C57"/>
                </a:solidFill>
                <a:latin typeface="Source Sans 3"/>
              </a:rPr>
              <a:t>métodos de sintonia comparados: Ziegler-Nichols, Tyreus-Luyben e Cohen-Coon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7473233" y="1057449"/>
            <a:ext cx="883872" cy="73137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200" b="1" i="0">
                <a:solidFill>
                  <a:srgbClr val="DEF1F0"/>
                </a:solidFill>
                <a:latin typeface="Source Sans 3"/>
              </a:rPr>
              <a:t>3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4446733" y="1855869"/>
            <a:ext cx="1952138" cy="1383521"/>
          </a:xfrm>
          <a:prstGeom prst="roundRect">
            <a:avLst>
              <a:gd name="adj" fmla="val 3083"/>
            </a:avLst>
          </a:prstGeom>
          <a:solidFill>
            <a:srgbClr val="EEF8F8"/>
          </a:solidFill>
          <a:ln w="6096">
            <a:solidFill>
              <a:srgbClr val="CF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4501594" y="2146896"/>
            <a:ext cx="1842416" cy="48758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0E9594"/>
                </a:solidFill>
                <a:latin typeface="Source Sans 3"/>
              </a:rPr>
              <a:t>600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4501594" y="2631433"/>
            <a:ext cx="1842416" cy="365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960" b="1" i="0">
                <a:solidFill>
                  <a:srgbClr val="0B2C57"/>
                </a:solidFill>
                <a:latin typeface="Source Sans 3"/>
              </a:rPr>
              <a:t>pulsos por revolução no encoder incremental lido por interrupção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5484521" y="2477540"/>
            <a:ext cx="883872" cy="73137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200" b="1" i="0">
                <a:solidFill>
                  <a:srgbClr val="DEF1F0"/>
                </a:solidFill>
                <a:latin typeface="Source Sans 3"/>
              </a:rPr>
              <a:t>600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6435445" y="1855869"/>
            <a:ext cx="1952138" cy="1383521"/>
          </a:xfrm>
          <a:prstGeom prst="roundRect">
            <a:avLst>
              <a:gd name="adj" fmla="val 3083"/>
            </a:avLst>
          </a:prstGeom>
          <a:solidFill>
            <a:srgbClr val="EEF8F8"/>
          </a:solidFill>
          <a:ln w="6096">
            <a:solidFill>
              <a:srgbClr val="CF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6490306" y="2146896"/>
            <a:ext cx="1842416" cy="48758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0E9594"/>
                </a:solidFill>
                <a:latin typeface="Source Sans 3"/>
              </a:rP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6490306" y="2631433"/>
            <a:ext cx="1842416" cy="365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960" b="1" i="0">
                <a:solidFill>
                  <a:srgbClr val="0B2C57"/>
                </a:solidFill>
                <a:latin typeface="Source Sans 3"/>
              </a:rPr>
              <a:t>programas a instalar: o controle é feito pelo navegador, sem internet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7473233" y="2477540"/>
            <a:ext cx="883872" cy="73137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200" b="1" i="0">
                <a:solidFill>
                  <a:srgbClr val="DEF1F0"/>
                </a:solidFill>
                <a:latin typeface="Source Sans 3"/>
              </a:rPr>
              <a:t>0</a:t>
            </a:r>
          </a:p>
        </p:txBody>
      </p:sp>
      <p:pic>
        <p:nvPicPr>
          <p:cNvPr id="95" name="Picture 94" descr="foto-bancada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452829" y="3275959"/>
            <a:ext cx="3928658" cy="1511512"/>
          </a:xfrm>
          <a:prstGeom prst="rect">
            <a:avLst/>
          </a:prstGeom>
        </p:spPr>
      </p:pic>
      <p:sp>
        <p:nvSpPr>
          <p:cNvPr id="96" name="Rounded Rectangle 95"/>
          <p:cNvSpPr/>
          <p:nvPr/>
        </p:nvSpPr>
        <p:spPr>
          <a:xfrm>
            <a:off x="14446733" y="3269865"/>
            <a:ext cx="3940849" cy="1523702"/>
          </a:xfrm>
          <a:prstGeom prst="roundRect">
            <a:avLst>
              <a:gd name="adj" fmla="val 2800"/>
            </a:avLst>
          </a:prstGeom>
          <a:noFill/>
          <a:ln w="6096">
            <a:solidFill>
              <a:srgbClr val="D9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4519881" y="4266366"/>
            <a:ext cx="3794553" cy="484537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6000"/>
              </a:lnSpc>
            </a:pPr>
            <a:r>
              <a:rPr sz="960" b="0" i="1">
                <a:solidFill>
                  <a:srgbClr val="FFFFFF"/>
                </a:solidFill>
                <a:latin typeface="Source Sans 3"/>
              </a:rPr>
              <a:t>Bancada de validação do Girino — ESP8266 + driver MOSFET + encoder LPD3806-600BM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4361394" y="4793567"/>
            <a:ext cx="4111528" cy="566817"/>
          </a:xfrm>
          <a:prstGeom prst="rect">
            <a:avLst/>
          </a:prstGeom>
          <a:solidFill>
            <a:srgbClr val="0B2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4446733" y="4836230"/>
            <a:ext cx="3940849" cy="48758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960" b="0" i="0">
                <a:solidFill>
                  <a:srgbClr val="E2E6EB"/>
                </a:solidFill>
                <a:latin typeface="Source Sans 3"/>
              </a:rPr>
              <a:t>Sem verba de material: componentes do estoque do laboratório · PID e auto-sintonia validados em bancada · placa de circuito impresso em projeto no KiCad e caixa em 3D nas próximas etapas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8506448" y="30474"/>
            <a:ext cx="3063073" cy="5339052"/>
          </a:xfrm>
          <a:prstGeom prst="roundRect">
            <a:avLst>
              <a:gd name="adj" fmla="val 1990"/>
            </a:avLst>
          </a:prstGeom>
          <a:solidFill>
            <a:srgbClr val="FFFFFF"/>
          </a:solidFill>
          <a:ln w="9144">
            <a:solidFill>
              <a:srgbClr val="D9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8515592" y="39616"/>
            <a:ext cx="3044786" cy="353499"/>
          </a:xfrm>
          <a:prstGeom prst="rect">
            <a:avLst/>
          </a:prstGeom>
          <a:solidFill>
            <a:srgbClr val="EE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18613123" y="121896"/>
            <a:ext cx="42670" cy="210271"/>
          </a:xfrm>
          <a:prstGeom prst="roundRect">
            <a:avLst>
              <a:gd name="adj" fmla="val 50000"/>
            </a:avLst>
          </a:prstGeom>
          <a:solidFill>
            <a:srgbClr val="0E9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8704558" y="121896"/>
            <a:ext cx="2770481" cy="2102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40" b="1" i="0">
                <a:solidFill>
                  <a:srgbClr val="0B2C57"/>
                </a:solidFill>
                <a:latin typeface="Source Sans 3"/>
              </a:rPr>
              <a:t>Impacto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613123" y="393115"/>
            <a:ext cx="2861916" cy="6095"/>
          </a:xfrm>
          <a:prstGeom prst="rect">
            <a:avLst/>
          </a:prstGeom>
          <a:solidFill>
            <a:srgbClr val="9FD5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8607027" y="563770"/>
            <a:ext cx="158487" cy="158465"/>
          </a:xfrm>
          <a:prstGeom prst="ellipse">
            <a:avLst/>
          </a:prstGeom>
          <a:solidFill>
            <a:srgbClr val="0E9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Source Sans 3"/>
              </a:rPr>
              <a:t>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8814280" y="582054"/>
            <a:ext cx="2654663" cy="182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060" b="1" i="0">
                <a:solidFill>
                  <a:srgbClr val="1A1A2E"/>
                </a:solidFill>
                <a:latin typeface="Source Sans 3"/>
              </a:rPr>
              <a:t>Equipamento de volta ao uso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8814280" y="758804"/>
            <a:ext cx="2654663" cy="73137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6000"/>
              </a:lnSpc>
            </a:pPr>
            <a:r>
              <a:rPr sz="1080" b="0" i="0">
                <a:solidFill>
                  <a:srgbClr val="555555"/>
                </a:solidFill>
                <a:latin typeface="Source Sans 3"/>
              </a:rPr>
              <a:t>Em vez de comprar de novo, manter e modernizar o que a instituição já pagou.</a:t>
            </a:r>
          </a:p>
        </p:txBody>
      </p:sp>
      <p:sp>
        <p:nvSpPr>
          <p:cNvPr id="108" name="Oval 107"/>
          <p:cNvSpPr/>
          <p:nvPr/>
        </p:nvSpPr>
        <p:spPr>
          <a:xfrm>
            <a:off x="18607027" y="1566366"/>
            <a:ext cx="158487" cy="158465"/>
          </a:xfrm>
          <a:prstGeom prst="ellipse">
            <a:avLst/>
          </a:prstGeom>
          <a:solidFill>
            <a:srgbClr val="0E9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Source Sans 3"/>
              </a:rP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8814280" y="1584650"/>
            <a:ext cx="2654663" cy="182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060" b="1" i="0">
                <a:solidFill>
                  <a:srgbClr val="1A1A2E"/>
                </a:solidFill>
                <a:latin typeface="Source Sans 3"/>
              </a:rPr>
              <a:t>Entrada barata para a robótica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8814280" y="1761400"/>
            <a:ext cx="2654663" cy="73137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6000"/>
              </a:lnSpc>
            </a:pPr>
            <a:r>
              <a:rPr sz="1080" b="0" i="0">
                <a:solidFill>
                  <a:srgbClr val="555555"/>
                </a:solidFill>
                <a:latin typeface="Source Sans 3"/>
              </a:rPr>
              <a:t>O Girino serve a disciplinas, extensão e trabalhos de conclusão, e a bancada é replicável em outros laboratórios.</a:t>
            </a:r>
          </a:p>
        </p:txBody>
      </p:sp>
      <p:sp>
        <p:nvSpPr>
          <p:cNvPr id="111" name="Oval 110"/>
          <p:cNvSpPr/>
          <p:nvPr/>
        </p:nvSpPr>
        <p:spPr>
          <a:xfrm>
            <a:off x="18607027" y="2757901"/>
            <a:ext cx="158487" cy="158465"/>
          </a:xfrm>
          <a:prstGeom prst="ellipse">
            <a:avLst/>
          </a:prstGeom>
          <a:solidFill>
            <a:srgbClr val="0E9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Source Sans 3"/>
              </a:rPr>
              <a:t>3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8814280" y="2776185"/>
            <a:ext cx="2654663" cy="182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060" b="1" i="0">
                <a:solidFill>
                  <a:srgbClr val="1A1A2E"/>
                </a:solidFill>
                <a:latin typeface="Source Sans 3"/>
              </a:rPr>
              <a:t>Formação técnica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8814280" y="2952935"/>
            <a:ext cx="2654663" cy="73137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6000"/>
              </a:lnSpc>
            </a:pPr>
            <a:r>
              <a:rPr sz="1080" b="0" i="0">
                <a:solidFill>
                  <a:srgbClr val="555555"/>
                </a:solidFill>
                <a:latin typeface="Source Sans 3"/>
              </a:rPr>
              <a:t>O bolsista percorre o ciclo completo de um projeto de sistemas embarcados, da medição de bancada à documentação de entrega.</a:t>
            </a:r>
          </a:p>
        </p:txBody>
      </p:sp>
      <p:sp>
        <p:nvSpPr>
          <p:cNvPr id="114" name="Oval 113"/>
          <p:cNvSpPr/>
          <p:nvPr/>
        </p:nvSpPr>
        <p:spPr>
          <a:xfrm>
            <a:off x="18607027" y="3946388"/>
            <a:ext cx="158487" cy="158465"/>
          </a:xfrm>
          <a:prstGeom prst="ellipse">
            <a:avLst/>
          </a:prstGeom>
          <a:solidFill>
            <a:srgbClr val="0E9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Source Sans 3"/>
              </a:rPr>
              <a:t>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8814280" y="3964673"/>
            <a:ext cx="2654663" cy="182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060" b="1" i="0">
                <a:solidFill>
                  <a:srgbClr val="1A1A2E"/>
                </a:solidFill>
                <a:latin typeface="Source Sans 3"/>
              </a:rPr>
              <a:t>Método replicável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8814280" y="4141422"/>
            <a:ext cx="2654663" cy="73137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6000"/>
              </a:lnSpc>
            </a:pPr>
            <a:r>
              <a:rPr sz="1080" b="0" i="0">
                <a:solidFill>
                  <a:srgbClr val="555555"/>
                </a:solidFill>
                <a:latin typeface="Source Sans 3"/>
              </a:rPr>
              <a:t>Caracterizar o que existe, adotar arquitetura aberta e documentar em processo contínuo, o que serve a outros equipamentos da instituição.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8515592" y="4979458"/>
            <a:ext cx="3044786" cy="380926"/>
          </a:xfrm>
          <a:prstGeom prst="rect">
            <a:avLst/>
          </a:prstGeom>
          <a:solidFill>
            <a:srgbClr val="F2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8607027" y="5019074"/>
            <a:ext cx="2861916" cy="30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4000"/>
              </a:lnSpc>
            </a:pPr>
            <a:r>
              <a:rPr sz="960" b="1" i="0">
                <a:solidFill>
                  <a:srgbClr val="0B2C57"/>
                </a:solidFill>
                <a:latin typeface="Source Sans 3"/>
              </a:rPr>
              <a:t>Diversidade que inspira, conhecimento que transforma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